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sldIdLst>
    <p:sldId id="270" r:id="rId2"/>
    <p:sldId id="271" r:id="rId3"/>
    <p:sldId id="272" r:id="rId4"/>
    <p:sldId id="273" r:id="rId5"/>
    <p:sldId id="274" r:id="rId6"/>
    <p:sldId id="275" r:id="rId7"/>
    <p:sldId id="276" r:id="rId8"/>
    <p:sldId id="277" r:id="rId9"/>
    <p:sldId id="278" r:id="rId10"/>
    <p:sldId id="279" r:id="rId11"/>
    <p:sldId id="280" r:id="rId12"/>
    <p:sldId id="281" r:id="rId13"/>
    <p:sldId id="282" r:id="rId14"/>
    <p:sldId id="283"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F6D2"/>
    <a:srgbClr val="00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CDCFB30-2F34-4C6C-B6B7-30925EAD1314}" type="datetimeFigureOut">
              <a:rPr lang="en-IN" smtClean="0"/>
              <a:t>28-12-2025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62255D-05D3-4C30-8630-1930ABEFBE25}" type="slidenum">
              <a:rPr lang="en-IN" smtClean="0"/>
              <a:t>‹#›</a:t>
            </a:fld>
            <a:endParaRPr lang="en-IN"/>
          </a:p>
        </p:txBody>
      </p:sp>
    </p:spTree>
    <p:extLst>
      <p:ext uri="{BB962C8B-B14F-4D97-AF65-F5344CB8AC3E}">
        <p14:creationId xmlns:p14="http://schemas.microsoft.com/office/powerpoint/2010/main" val="268252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6CDCFB30-2F34-4C6C-B6B7-30925EAD1314}" type="datetimeFigureOut">
              <a:rPr lang="en-IN" smtClean="0"/>
              <a:t>28-12-2025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62255D-05D3-4C30-8630-1930ABEFBE25}" type="slidenum">
              <a:rPr lang="en-IN" smtClean="0"/>
              <a:t>‹#›</a:t>
            </a:fld>
            <a:endParaRPr lang="en-IN"/>
          </a:p>
        </p:txBody>
      </p:sp>
      <p:sp>
        <p:nvSpPr>
          <p:cNvPr id="7" name="TextBox 6"/>
          <p:cNvSpPr txBox="1"/>
          <p:nvPr userDrawn="1"/>
        </p:nvSpPr>
        <p:spPr>
          <a:xfrm rot="19384128">
            <a:off x="677334" y="2550675"/>
            <a:ext cx="8596668" cy="1015663"/>
          </a:xfrm>
          <a:prstGeom prst="rect">
            <a:avLst/>
          </a:prstGeom>
          <a:noFill/>
        </p:spPr>
        <p:txBody>
          <a:bodyPr wrap="square" rtlCol="0">
            <a:spAutoFit/>
          </a:bodyPr>
          <a:lstStyle/>
          <a:p>
            <a:pPr algn="ctr"/>
            <a:r>
              <a:rPr lang="en-US" sz="6000" b="1" dirty="0" smtClean="0">
                <a:solidFill>
                  <a:srgbClr val="EAF6D2"/>
                </a:solidFill>
              </a:rPr>
              <a:t>Vimal Coding Classes</a:t>
            </a:r>
            <a:endParaRPr lang="en-IN" sz="6000" b="1" dirty="0">
              <a:solidFill>
                <a:srgbClr val="EAF6D2"/>
              </a:solidFill>
            </a:endParaRPr>
          </a:p>
        </p:txBody>
      </p:sp>
    </p:spTree>
    <p:extLst>
      <p:ext uri="{BB962C8B-B14F-4D97-AF65-F5344CB8AC3E}">
        <p14:creationId xmlns:p14="http://schemas.microsoft.com/office/powerpoint/2010/main" val="1433686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CDCFB30-2F34-4C6C-B6B7-30925EAD1314}" type="datetimeFigureOut">
              <a:rPr lang="en-IN" smtClean="0"/>
              <a:t>28-12-2025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62255D-05D3-4C30-8630-1930ABEFBE25}" type="slidenum">
              <a:rPr lang="en-IN" smtClean="0"/>
              <a:t>‹#›</a:t>
            </a:fld>
            <a:endParaRPr lang="en-IN"/>
          </a:p>
        </p:txBody>
      </p:sp>
    </p:spTree>
    <p:extLst>
      <p:ext uri="{BB962C8B-B14F-4D97-AF65-F5344CB8AC3E}">
        <p14:creationId xmlns:p14="http://schemas.microsoft.com/office/powerpoint/2010/main" val="2889311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CDCFB30-2F34-4C6C-B6B7-30925EAD1314}" type="datetimeFigureOut">
              <a:rPr lang="en-IN" smtClean="0"/>
              <a:t>28-12-2025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962255D-05D3-4C30-8630-1930ABEFBE25}" type="slidenum">
              <a:rPr lang="en-IN" smtClean="0"/>
              <a:t>‹#›</a:t>
            </a:fld>
            <a:endParaRPr lang="en-IN"/>
          </a:p>
        </p:txBody>
      </p:sp>
    </p:spTree>
    <p:extLst>
      <p:ext uri="{BB962C8B-B14F-4D97-AF65-F5344CB8AC3E}">
        <p14:creationId xmlns:p14="http://schemas.microsoft.com/office/powerpoint/2010/main" val="2074873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CDCFB30-2F34-4C6C-B6B7-30925EAD1314}" type="datetimeFigureOut">
              <a:rPr lang="en-IN" smtClean="0"/>
              <a:t>28-12-2025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962255D-05D3-4C30-8630-1930ABEFBE25}" type="slidenum">
              <a:rPr lang="en-IN" smtClean="0"/>
              <a:t>‹#›</a:t>
            </a:fld>
            <a:endParaRPr lang="en-IN"/>
          </a:p>
        </p:txBody>
      </p:sp>
    </p:spTree>
    <p:extLst>
      <p:ext uri="{BB962C8B-B14F-4D97-AF65-F5344CB8AC3E}">
        <p14:creationId xmlns:p14="http://schemas.microsoft.com/office/powerpoint/2010/main" val="1578894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CDCFB30-2F34-4C6C-B6B7-30925EAD1314}" type="datetimeFigureOut">
              <a:rPr lang="en-IN" smtClean="0"/>
              <a:t>28-12-2025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962255D-05D3-4C30-8630-1930ABEFBE25}" type="slidenum">
              <a:rPr lang="en-IN" smtClean="0"/>
              <a:t>‹#›</a:t>
            </a:fld>
            <a:endParaRPr lang="en-IN"/>
          </a:p>
        </p:txBody>
      </p:sp>
    </p:spTree>
    <p:extLst>
      <p:ext uri="{BB962C8B-B14F-4D97-AF65-F5344CB8AC3E}">
        <p14:creationId xmlns:p14="http://schemas.microsoft.com/office/powerpoint/2010/main" val="2980562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DCFB30-2F34-4C6C-B6B7-30925EAD1314}" type="datetimeFigureOut">
              <a:rPr lang="en-IN" smtClean="0"/>
              <a:t>28-12-2025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962255D-05D3-4C30-8630-1930ABEFBE25}" type="slidenum">
              <a:rPr lang="en-IN" smtClean="0"/>
              <a:t>‹#›</a:t>
            </a:fld>
            <a:endParaRPr lang="en-IN"/>
          </a:p>
        </p:txBody>
      </p:sp>
    </p:spTree>
    <p:extLst>
      <p:ext uri="{BB962C8B-B14F-4D97-AF65-F5344CB8AC3E}">
        <p14:creationId xmlns:p14="http://schemas.microsoft.com/office/powerpoint/2010/main" val="1078094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CDCFB30-2F34-4C6C-B6B7-30925EAD1314}" type="datetimeFigureOut">
              <a:rPr lang="en-IN" smtClean="0"/>
              <a:t>28-12-2025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962255D-05D3-4C30-8630-1930ABEFBE25}" type="slidenum">
              <a:rPr lang="en-IN" smtClean="0"/>
              <a:t>‹#›</a:t>
            </a:fld>
            <a:endParaRPr lang="en-IN"/>
          </a:p>
        </p:txBody>
      </p:sp>
    </p:spTree>
    <p:extLst>
      <p:ext uri="{BB962C8B-B14F-4D97-AF65-F5344CB8AC3E}">
        <p14:creationId xmlns:p14="http://schemas.microsoft.com/office/powerpoint/2010/main" val="2571874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CDCFB30-2F34-4C6C-B6B7-30925EAD1314}" type="datetimeFigureOut">
              <a:rPr lang="en-IN" smtClean="0"/>
              <a:t>28-12-2025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962255D-05D3-4C30-8630-1930ABEFBE25}" type="slidenum">
              <a:rPr lang="en-IN" smtClean="0"/>
              <a:t>‹#›</a:t>
            </a:fld>
            <a:endParaRPr lang="en-IN"/>
          </a:p>
        </p:txBody>
      </p:sp>
    </p:spTree>
    <p:extLst>
      <p:ext uri="{BB962C8B-B14F-4D97-AF65-F5344CB8AC3E}">
        <p14:creationId xmlns:p14="http://schemas.microsoft.com/office/powerpoint/2010/main" val="4068338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CDCFB30-2F34-4C6C-B6B7-30925EAD1314}" type="datetimeFigureOut">
              <a:rPr lang="en-IN" smtClean="0"/>
              <a:t>28-12-2025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62255D-05D3-4C30-8630-1930ABEFBE25}" type="slidenum">
              <a:rPr lang="en-IN" smtClean="0"/>
              <a:t>‹#›</a:t>
            </a:fld>
            <a:endParaRPr lang="en-IN"/>
          </a:p>
        </p:txBody>
      </p:sp>
    </p:spTree>
    <p:extLst>
      <p:ext uri="{BB962C8B-B14F-4D97-AF65-F5344CB8AC3E}">
        <p14:creationId xmlns:p14="http://schemas.microsoft.com/office/powerpoint/2010/main" val="2942254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CDCFB30-2F34-4C6C-B6B7-30925EAD1314}" type="datetimeFigureOut">
              <a:rPr lang="en-IN" smtClean="0"/>
              <a:t>28-12-2025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62255D-05D3-4C30-8630-1930ABEFBE25}"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586807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CDCFB30-2F34-4C6C-B6B7-30925EAD1314}" type="datetimeFigureOut">
              <a:rPr lang="en-IN" smtClean="0"/>
              <a:t>28-12-2025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62255D-05D3-4C30-8630-1930ABEFBE25}" type="slidenum">
              <a:rPr lang="en-IN" smtClean="0"/>
              <a:t>‹#›</a:t>
            </a:fld>
            <a:endParaRPr lang="en-IN"/>
          </a:p>
        </p:txBody>
      </p:sp>
    </p:spTree>
    <p:extLst>
      <p:ext uri="{BB962C8B-B14F-4D97-AF65-F5344CB8AC3E}">
        <p14:creationId xmlns:p14="http://schemas.microsoft.com/office/powerpoint/2010/main" val="1468751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CDCFB30-2F34-4C6C-B6B7-30925EAD1314}" type="datetimeFigureOut">
              <a:rPr lang="en-IN" smtClean="0"/>
              <a:t>28-12-2025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62255D-05D3-4C30-8630-1930ABEFBE25}"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617432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CDCFB30-2F34-4C6C-B6B7-30925EAD1314}" type="datetimeFigureOut">
              <a:rPr lang="en-IN" smtClean="0"/>
              <a:t>28-12-2025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62255D-05D3-4C30-8630-1930ABEFBE25}" type="slidenum">
              <a:rPr lang="en-IN" smtClean="0"/>
              <a:t>‹#›</a:t>
            </a:fld>
            <a:endParaRPr lang="en-IN"/>
          </a:p>
        </p:txBody>
      </p:sp>
    </p:spTree>
    <p:extLst>
      <p:ext uri="{BB962C8B-B14F-4D97-AF65-F5344CB8AC3E}">
        <p14:creationId xmlns:p14="http://schemas.microsoft.com/office/powerpoint/2010/main" val="14822175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CDCFB30-2F34-4C6C-B6B7-30925EAD1314}" type="datetimeFigureOut">
              <a:rPr lang="en-IN" smtClean="0"/>
              <a:t>28-12-2025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62255D-05D3-4C30-8630-1930ABEFBE25}" type="slidenum">
              <a:rPr lang="en-IN" smtClean="0"/>
              <a:t>‹#›</a:t>
            </a:fld>
            <a:endParaRPr lang="en-IN"/>
          </a:p>
        </p:txBody>
      </p:sp>
    </p:spTree>
    <p:extLst>
      <p:ext uri="{BB962C8B-B14F-4D97-AF65-F5344CB8AC3E}">
        <p14:creationId xmlns:p14="http://schemas.microsoft.com/office/powerpoint/2010/main" val="6708135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CDCFB30-2F34-4C6C-B6B7-30925EAD1314}" type="datetimeFigureOut">
              <a:rPr lang="en-IN" smtClean="0"/>
              <a:t>28-12-2025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62255D-05D3-4C30-8630-1930ABEFBE25}" type="slidenum">
              <a:rPr lang="en-IN" smtClean="0"/>
              <a:t>‹#›</a:t>
            </a:fld>
            <a:endParaRPr lang="en-IN"/>
          </a:p>
        </p:txBody>
      </p:sp>
    </p:spTree>
    <p:extLst>
      <p:ext uri="{BB962C8B-B14F-4D97-AF65-F5344CB8AC3E}">
        <p14:creationId xmlns:p14="http://schemas.microsoft.com/office/powerpoint/2010/main" val="1997913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CDCFB30-2F34-4C6C-B6B7-30925EAD1314}" type="datetimeFigureOut">
              <a:rPr lang="en-IN" smtClean="0"/>
              <a:t>28-12-2025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962255D-05D3-4C30-8630-1930ABEFBE25}" type="slidenum">
              <a:rPr lang="en-IN" smtClean="0"/>
              <a:t>‹#›</a:t>
            </a:fld>
            <a:endParaRPr lang="en-IN"/>
          </a:p>
        </p:txBody>
      </p:sp>
    </p:spTree>
    <p:extLst>
      <p:ext uri="{BB962C8B-B14F-4D97-AF65-F5344CB8AC3E}">
        <p14:creationId xmlns:p14="http://schemas.microsoft.com/office/powerpoint/2010/main" val="1940344502"/>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Calibri" panose="020F0502020204030204" pitchFamily="34" charset="0"/>
                <a:cs typeface="Calibri" panose="020F0502020204030204" pitchFamily="34" charset="0"/>
              </a:rPr>
              <a:t>Design Patterns</a:t>
            </a:r>
            <a:endParaRPr lang="en-IN" sz="40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p:txBody>
          <a:bodyPr>
            <a:noAutofit/>
          </a:bodyPr>
          <a:lstStyle/>
          <a:p>
            <a:pPr marL="0" indent="0">
              <a:buNone/>
            </a:pPr>
            <a:r>
              <a:rPr lang="en-US" sz="2000" dirty="0">
                <a:latin typeface="Calibri" panose="020F0502020204030204" pitchFamily="34" charset="0"/>
                <a:cs typeface="Calibri" panose="020F0502020204030204" pitchFamily="34" charset="0"/>
              </a:rPr>
              <a:t>Design patterns are typical solutions to commonly occurring problems in software design. They are like pre-made blueprints that you can customize to solve a recurring design problem in your code. You can't just find a pattern and copy it into your program, the way you can with off-the-shelf functions or </a:t>
            </a:r>
            <a:r>
              <a:rPr lang="en-US" sz="2000" dirty="0" smtClean="0">
                <a:latin typeface="Calibri" panose="020F0502020204030204" pitchFamily="34" charset="0"/>
                <a:cs typeface="Calibri" panose="020F0502020204030204" pitchFamily="34" charset="0"/>
              </a:rPr>
              <a:t>libraries.</a:t>
            </a:r>
          </a:p>
          <a:p>
            <a:pPr marL="0" indent="0">
              <a:buNone/>
            </a:pPr>
            <a:r>
              <a:rPr lang="en-US" sz="2000" smtClean="0">
                <a:latin typeface="Calibri" panose="020F0502020204030204" pitchFamily="34" charset="0"/>
                <a:cs typeface="Calibri" panose="020F0502020204030204" pitchFamily="34" charset="0"/>
              </a:rPr>
              <a:t>Design </a:t>
            </a:r>
            <a:r>
              <a:rPr lang="en-US" sz="2000" dirty="0">
                <a:latin typeface="Calibri" panose="020F0502020204030204" pitchFamily="34" charset="0"/>
                <a:cs typeface="Calibri" panose="020F0502020204030204" pitchFamily="34" charset="0"/>
              </a:rPr>
              <a:t>patterns are typically categorized into three main groups, based on their purpose</a:t>
            </a:r>
            <a:r>
              <a:rPr lang="en-US" sz="2000" dirty="0" smtClean="0">
                <a:latin typeface="Calibri" panose="020F0502020204030204" pitchFamily="34" charset="0"/>
                <a:cs typeface="Calibri" panose="020F0502020204030204" pitchFamily="34" charset="0"/>
              </a:rPr>
              <a:t>:</a:t>
            </a:r>
          </a:p>
          <a:p>
            <a:pPr marL="457200" indent="-457200">
              <a:buAutoNum type="arabicPeriod"/>
            </a:pPr>
            <a:r>
              <a:rPr lang="en-US" sz="2000" dirty="0" smtClean="0">
                <a:latin typeface="Calibri" panose="020F0502020204030204" pitchFamily="34" charset="0"/>
                <a:cs typeface="Calibri" panose="020F0502020204030204" pitchFamily="34" charset="0"/>
              </a:rPr>
              <a:t>Creational Patterns</a:t>
            </a:r>
          </a:p>
          <a:p>
            <a:pPr marL="457200" indent="-457200">
              <a:buAutoNum type="arabicPeriod"/>
            </a:pPr>
            <a:r>
              <a:rPr lang="en-US" sz="2000" dirty="0" smtClean="0">
                <a:latin typeface="Calibri" panose="020F0502020204030204" pitchFamily="34" charset="0"/>
                <a:cs typeface="Calibri" panose="020F0502020204030204" pitchFamily="34" charset="0"/>
              </a:rPr>
              <a:t>Structural Patterns</a:t>
            </a:r>
          </a:p>
          <a:p>
            <a:pPr marL="457200" indent="-457200">
              <a:buAutoNum type="arabicPeriod"/>
            </a:pPr>
            <a:r>
              <a:rPr lang="en-US" sz="2000" dirty="0" smtClean="0">
                <a:latin typeface="Calibri" panose="020F0502020204030204" pitchFamily="34" charset="0"/>
                <a:cs typeface="Calibri" panose="020F0502020204030204" pitchFamily="34" charset="0"/>
              </a:rPr>
              <a:t>Behavioral Patterns</a:t>
            </a:r>
          </a:p>
          <a:p>
            <a:pPr marL="0" indent="0">
              <a:buNone/>
            </a:pPr>
            <a:endParaRPr lang="en-US" sz="2000" dirty="0" smtClean="0">
              <a:latin typeface="Calibri" panose="020F0502020204030204" pitchFamily="34" charset="0"/>
              <a:cs typeface="Calibri" panose="020F0502020204030204" pitchFamily="34" charset="0"/>
            </a:endParaRPr>
          </a:p>
          <a:p>
            <a:pPr marL="0" indent="0">
              <a:buNone/>
            </a:pPr>
            <a:endParaRPr lang="en-IN"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459658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IN" sz="40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p:txBody>
          <a:bodyPr>
            <a:noAutofit/>
          </a:bodyPr>
          <a:lstStyle/>
          <a:p>
            <a:pPr marL="0" indent="0">
              <a:buNone/>
            </a:pPr>
            <a:r>
              <a:rPr lang="en-US" sz="2000" b="1" dirty="0">
                <a:latin typeface="Calibri" panose="020F0502020204030204" pitchFamily="34" charset="0"/>
                <a:cs typeface="Calibri" panose="020F0502020204030204" pitchFamily="34" charset="0"/>
              </a:rPr>
              <a:t>Creational </a:t>
            </a:r>
            <a:r>
              <a:rPr lang="en-US" sz="2000" b="1" dirty="0" smtClean="0">
                <a:latin typeface="Calibri" panose="020F0502020204030204" pitchFamily="34" charset="0"/>
                <a:cs typeface="Calibri" panose="020F0502020204030204" pitchFamily="34" charset="0"/>
              </a:rPr>
              <a:t>Patterns: </a:t>
            </a:r>
            <a:r>
              <a:rPr lang="en-US" sz="2000" dirty="0" smtClean="0">
                <a:latin typeface="Calibri" panose="020F0502020204030204" pitchFamily="34" charset="0"/>
                <a:cs typeface="Calibri" panose="020F0502020204030204" pitchFamily="34" charset="0"/>
              </a:rPr>
              <a:t>These </a:t>
            </a:r>
            <a:r>
              <a:rPr lang="en-US" sz="2000" dirty="0">
                <a:latin typeface="Calibri" panose="020F0502020204030204" pitchFamily="34" charset="0"/>
                <a:cs typeface="Calibri" panose="020F0502020204030204" pitchFamily="34" charset="0"/>
              </a:rPr>
              <a:t>patterns provide various mechanisms to create objects, increasing flexibility and reusability of the code. They control the object instantiation process</a:t>
            </a:r>
            <a:r>
              <a:rPr lang="en-US" sz="2000" dirty="0" smtClean="0">
                <a:latin typeface="Calibri" panose="020F0502020204030204" pitchFamily="34" charset="0"/>
                <a:cs typeface="Calibri" panose="020F0502020204030204" pitchFamily="34" charset="0"/>
              </a:rPr>
              <a:t>.</a:t>
            </a:r>
            <a:endParaRPr lang="en-US" sz="2000" dirty="0">
              <a:latin typeface="Calibri" panose="020F0502020204030204" pitchFamily="34" charset="0"/>
              <a:cs typeface="Calibri" panose="020F0502020204030204" pitchFamily="34" charset="0"/>
            </a:endParaRPr>
          </a:p>
          <a:p>
            <a:pPr marL="0" indent="0">
              <a:buNone/>
            </a:pPr>
            <a:r>
              <a:rPr lang="en-US" sz="2000" b="1" dirty="0" smtClean="0">
                <a:latin typeface="Calibri" panose="020F0502020204030204" pitchFamily="34" charset="0"/>
                <a:cs typeface="Calibri" panose="020F0502020204030204" pitchFamily="34" charset="0"/>
              </a:rPr>
              <a:t>Structural Patterns: </a:t>
            </a:r>
            <a:r>
              <a:rPr lang="en-US" sz="2000" dirty="0" smtClean="0">
                <a:latin typeface="Calibri" panose="020F0502020204030204" pitchFamily="34" charset="0"/>
                <a:cs typeface="Calibri" panose="020F0502020204030204" pitchFamily="34" charset="0"/>
              </a:rPr>
              <a:t>These </a:t>
            </a:r>
            <a:r>
              <a:rPr lang="en-US" sz="2000" dirty="0">
                <a:latin typeface="Calibri" panose="020F0502020204030204" pitchFamily="34" charset="0"/>
                <a:cs typeface="Calibri" panose="020F0502020204030204" pitchFamily="34" charset="0"/>
              </a:rPr>
              <a:t>patterns concern the composition of classes and objects. They help ensure that if one part of a system changes, the entire system doesn't have to be altered</a:t>
            </a:r>
            <a:r>
              <a:rPr lang="en-US" sz="2000" dirty="0" smtClean="0">
                <a:latin typeface="Calibri" panose="020F0502020204030204" pitchFamily="34" charset="0"/>
                <a:cs typeface="Calibri" panose="020F0502020204030204" pitchFamily="34" charset="0"/>
              </a:rPr>
              <a:t>.</a:t>
            </a:r>
          </a:p>
          <a:p>
            <a:pPr marL="0" indent="0">
              <a:buNone/>
            </a:pPr>
            <a:r>
              <a:rPr lang="en-US" sz="2000" b="1" dirty="0" smtClean="0">
                <a:latin typeface="Calibri" panose="020F0502020204030204" pitchFamily="34" charset="0"/>
                <a:cs typeface="Calibri" panose="020F0502020204030204" pitchFamily="34" charset="0"/>
              </a:rPr>
              <a:t>Behavioral </a:t>
            </a:r>
            <a:r>
              <a:rPr lang="en-US" sz="2000" b="1" dirty="0">
                <a:latin typeface="Calibri" panose="020F0502020204030204" pitchFamily="34" charset="0"/>
                <a:cs typeface="Calibri" panose="020F0502020204030204" pitchFamily="34" charset="0"/>
              </a:rPr>
              <a:t>Patterns: </a:t>
            </a:r>
            <a:r>
              <a:rPr lang="en-US" sz="2000" dirty="0">
                <a:latin typeface="Calibri" panose="020F0502020204030204" pitchFamily="34" charset="0"/>
                <a:cs typeface="Calibri" panose="020F0502020204030204" pitchFamily="34" charset="0"/>
              </a:rPr>
              <a:t>These patterns are concerned with algorithms and the assignment of responsibilities between objects. They describe how objects communicate with each other.</a:t>
            </a:r>
            <a:endParaRPr lang="en-IN"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510896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Calibri" panose="020F0502020204030204" pitchFamily="34" charset="0"/>
                <a:cs typeface="Calibri" panose="020F0502020204030204" pitchFamily="34" charset="0"/>
              </a:rPr>
              <a:t>Singleton Design Pattern</a:t>
            </a:r>
            <a:endParaRPr lang="en-IN" sz="40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p:txBody>
          <a:bodyPr>
            <a:noAutofit/>
          </a:bodyPr>
          <a:lstStyle/>
          <a:p>
            <a:pPr marL="0" indent="0">
              <a:buNone/>
            </a:pPr>
            <a:r>
              <a:rPr lang="en-US" sz="2000" dirty="0">
                <a:latin typeface="Calibri" panose="020F0502020204030204" pitchFamily="34" charset="0"/>
                <a:cs typeface="Calibri" panose="020F0502020204030204" pitchFamily="34" charset="0"/>
              </a:rPr>
              <a:t>The </a:t>
            </a:r>
            <a:r>
              <a:rPr lang="en-US" sz="2000" b="1" dirty="0">
                <a:latin typeface="Calibri" panose="020F0502020204030204" pitchFamily="34" charset="0"/>
                <a:cs typeface="Calibri" panose="020F0502020204030204" pitchFamily="34" charset="0"/>
              </a:rPr>
              <a:t>Singleton Design Pattern</a:t>
            </a:r>
            <a:r>
              <a:rPr lang="en-US" sz="2000" dirty="0">
                <a:latin typeface="Calibri" panose="020F0502020204030204" pitchFamily="34" charset="0"/>
                <a:cs typeface="Calibri" panose="020F0502020204030204" pitchFamily="34" charset="0"/>
              </a:rPr>
              <a:t> is used to restrict the instantiation of a class to a single object and provide a global point of access to it. In Node.js, this is particularly useful for managing resources that should be shared across the entire application, such as database connections, configuration settings, or logging services.</a:t>
            </a:r>
            <a:endParaRPr lang="en-IN"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162703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Calibri" panose="020F0502020204030204" pitchFamily="34" charset="0"/>
                <a:cs typeface="Calibri" panose="020F0502020204030204" pitchFamily="34" charset="0"/>
              </a:rPr>
              <a:t>Factory Design Pattern</a:t>
            </a:r>
            <a:endParaRPr lang="en-IN" sz="40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p:txBody>
          <a:bodyPr>
            <a:noAutofit/>
          </a:bodyPr>
          <a:lstStyle/>
          <a:p>
            <a:pPr marL="0" indent="0">
              <a:buNone/>
            </a:pPr>
            <a:r>
              <a:rPr lang="en-US" sz="2000" dirty="0">
                <a:latin typeface="Calibri" panose="020F0502020204030204" pitchFamily="34" charset="0"/>
                <a:cs typeface="Calibri" panose="020F0502020204030204" pitchFamily="34" charset="0"/>
              </a:rPr>
              <a:t>The </a:t>
            </a:r>
            <a:r>
              <a:rPr lang="en-US" sz="2000" b="1" dirty="0">
                <a:latin typeface="Calibri" panose="020F0502020204030204" pitchFamily="34" charset="0"/>
                <a:cs typeface="Calibri" panose="020F0502020204030204" pitchFamily="34" charset="0"/>
              </a:rPr>
              <a:t>Factory Design Pattern</a:t>
            </a:r>
            <a:r>
              <a:rPr lang="en-US" sz="2000" dirty="0">
                <a:latin typeface="Calibri" panose="020F0502020204030204" pitchFamily="34" charset="0"/>
                <a:cs typeface="Calibri" panose="020F0502020204030204" pitchFamily="34" charset="0"/>
              </a:rPr>
              <a:t> is a creational pattern that provides an interface for creating objects in a superclass, but allows subclasses to alter the type of objects that will be created. In Node.js, it's highly effective for decoupling the client code (the code that needs the object) from the specific concrete classes of the objects being instantiated</a:t>
            </a:r>
            <a:r>
              <a:rPr lang="en-US" sz="2000" dirty="0" smtClean="0">
                <a:latin typeface="Calibri" panose="020F0502020204030204" pitchFamily="34" charset="0"/>
                <a:cs typeface="Calibri" panose="020F0502020204030204" pitchFamily="34" charset="0"/>
              </a:rPr>
              <a:t>.</a:t>
            </a:r>
            <a:endParaRPr lang="en-US" sz="2000" dirty="0">
              <a:latin typeface="Calibri" panose="020F0502020204030204" pitchFamily="34" charset="0"/>
              <a:cs typeface="Calibri" panose="020F0502020204030204" pitchFamily="34" charset="0"/>
            </a:endParaRPr>
          </a:p>
          <a:p>
            <a:pPr marL="0" indent="0">
              <a:buNone/>
            </a:pPr>
            <a:r>
              <a:rPr lang="en-US" sz="2000" dirty="0">
                <a:latin typeface="Calibri" panose="020F0502020204030204" pitchFamily="34" charset="0"/>
                <a:cs typeface="Calibri" panose="020F0502020204030204" pitchFamily="34" charset="0"/>
              </a:rPr>
              <a:t>This pattern is especially useful in Node.js for managing different implementations of a service (e.g., logging, data storage, or file parsing) based on configuration or runtime context.</a:t>
            </a:r>
            <a:endParaRPr lang="en-IN"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308048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Calibri" panose="020F0502020204030204" pitchFamily="34" charset="0"/>
                <a:cs typeface="Calibri" panose="020F0502020204030204" pitchFamily="34" charset="0"/>
              </a:rPr>
              <a:t>Abstract Factory Design Pattern</a:t>
            </a:r>
            <a:endParaRPr lang="en-IN" sz="40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p:txBody>
          <a:bodyPr>
            <a:noAutofit/>
          </a:bodyPr>
          <a:lstStyle/>
          <a:p>
            <a:pPr marL="0" indent="0">
              <a:buNone/>
            </a:pPr>
            <a:r>
              <a:rPr lang="en-US" sz="2000" dirty="0">
                <a:latin typeface="Calibri" panose="020F0502020204030204" pitchFamily="34" charset="0"/>
                <a:cs typeface="Calibri" panose="020F0502020204030204" pitchFamily="34" charset="0"/>
              </a:rPr>
              <a:t>The </a:t>
            </a:r>
            <a:r>
              <a:rPr lang="en-US" sz="2000" b="1" dirty="0">
                <a:latin typeface="Calibri" panose="020F0502020204030204" pitchFamily="34" charset="0"/>
                <a:cs typeface="Calibri" panose="020F0502020204030204" pitchFamily="34" charset="0"/>
              </a:rPr>
              <a:t>Abstract Factory Design Pattern</a:t>
            </a:r>
            <a:r>
              <a:rPr lang="en-US" sz="2000" dirty="0">
                <a:latin typeface="Calibri" panose="020F0502020204030204" pitchFamily="34" charset="0"/>
                <a:cs typeface="Calibri" panose="020F0502020204030204" pitchFamily="34" charset="0"/>
              </a:rPr>
              <a:t> provides an interface for creating families of related or dependent objects without specifying their concrete classes. In Node.js, this pattern is highly effective for managing different application "families" or "kits"—such as multiple database vendors (SQL vs. NoSQL) or various theme configurations (Dark vs. Light UI).</a:t>
            </a:r>
            <a:endParaRPr lang="en-IN"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549565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Calibri" panose="020F0502020204030204" pitchFamily="34" charset="0"/>
                <a:cs typeface="Calibri" panose="020F0502020204030204" pitchFamily="34" charset="0"/>
              </a:rPr>
              <a:t>Builder Design Pattern</a:t>
            </a:r>
            <a:endParaRPr lang="en-IN" sz="40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p:txBody>
          <a:bodyPr>
            <a:noAutofit/>
          </a:bodyPr>
          <a:lstStyle/>
          <a:p>
            <a:pPr marL="0" indent="0">
              <a:buNone/>
            </a:pPr>
            <a:r>
              <a:rPr lang="en-US" sz="2000" dirty="0">
                <a:latin typeface="Calibri" panose="020F0502020204030204" pitchFamily="34" charset="0"/>
                <a:cs typeface="Calibri" panose="020F0502020204030204" pitchFamily="34" charset="0"/>
              </a:rPr>
              <a:t>The </a:t>
            </a:r>
            <a:r>
              <a:rPr lang="en-US" sz="2000" b="1" dirty="0">
                <a:latin typeface="Calibri" panose="020F0502020204030204" pitchFamily="34" charset="0"/>
                <a:cs typeface="Calibri" panose="020F0502020204030204" pitchFamily="34" charset="0"/>
              </a:rPr>
              <a:t>Builder design pattern</a:t>
            </a:r>
            <a:r>
              <a:rPr lang="en-US" sz="2000" dirty="0">
                <a:latin typeface="Calibri" panose="020F0502020204030204" pitchFamily="34" charset="0"/>
                <a:cs typeface="Calibri" panose="020F0502020204030204" pitchFamily="34" charset="0"/>
              </a:rPr>
              <a:t> is a </a:t>
            </a:r>
            <a:r>
              <a:rPr lang="en-US" sz="2000" b="1" dirty="0">
                <a:latin typeface="Calibri" panose="020F0502020204030204" pitchFamily="34" charset="0"/>
                <a:cs typeface="Calibri" panose="020F0502020204030204" pitchFamily="34" charset="0"/>
              </a:rPr>
              <a:t>creational pattern</a:t>
            </a:r>
            <a:r>
              <a:rPr lang="en-US" sz="2000" dirty="0">
                <a:latin typeface="Calibri" panose="020F0502020204030204" pitchFamily="34" charset="0"/>
                <a:cs typeface="Calibri" panose="020F0502020204030204" pitchFamily="34" charset="0"/>
              </a:rPr>
              <a:t> that separates the construction of a complex object from its representation. This allows the same construction process to create different representations. It's particularly useful when an object can be created with many different optional parameters or complex construction logic</a:t>
            </a:r>
            <a:endParaRPr lang="en-IN"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0550730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Calibri" panose="020F0502020204030204" pitchFamily="34" charset="0"/>
                <a:cs typeface="Calibri" panose="020F0502020204030204" pitchFamily="34" charset="0"/>
              </a:rPr>
              <a:t>Prototype Design Pattern</a:t>
            </a:r>
            <a:endParaRPr lang="en-IN" sz="40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p:txBody>
          <a:bodyPr>
            <a:noAutofit/>
          </a:bodyPr>
          <a:lstStyle/>
          <a:p>
            <a:pPr marL="0" indent="0">
              <a:buNone/>
            </a:pPr>
            <a:r>
              <a:rPr lang="en-US" sz="2000" dirty="0">
                <a:latin typeface="Calibri" panose="020F0502020204030204" pitchFamily="34" charset="0"/>
                <a:cs typeface="Calibri" panose="020F0502020204030204" pitchFamily="34" charset="0"/>
              </a:rPr>
              <a:t>The </a:t>
            </a:r>
            <a:r>
              <a:rPr lang="en-US" sz="2000" b="1" dirty="0">
                <a:latin typeface="Calibri" panose="020F0502020204030204" pitchFamily="34" charset="0"/>
                <a:cs typeface="Calibri" panose="020F0502020204030204" pitchFamily="34" charset="0"/>
              </a:rPr>
              <a:t>Prototype design pattern</a:t>
            </a:r>
            <a:r>
              <a:rPr lang="en-US" sz="2000" dirty="0">
                <a:latin typeface="Calibri" panose="020F0502020204030204" pitchFamily="34" charset="0"/>
                <a:cs typeface="Calibri" panose="020F0502020204030204" pitchFamily="34" charset="0"/>
              </a:rPr>
              <a:t> is a </a:t>
            </a:r>
            <a:r>
              <a:rPr lang="en-US" sz="2000" b="1" dirty="0">
                <a:latin typeface="Calibri" panose="020F0502020204030204" pitchFamily="34" charset="0"/>
                <a:cs typeface="Calibri" panose="020F0502020204030204" pitchFamily="34" charset="0"/>
              </a:rPr>
              <a:t>creational pattern</a:t>
            </a:r>
            <a:r>
              <a:rPr lang="en-US" sz="2000" dirty="0">
                <a:latin typeface="Calibri" panose="020F0502020204030204" pitchFamily="34" charset="0"/>
                <a:cs typeface="Calibri" panose="020F0502020204030204" pitchFamily="34" charset="0"/>
              </a:rPr>
              <a:t> used when the object creation process is complex or expensive. It allows you to create new objects by cloning an existing object, known as the prototype, instead of creating a new instance from scratch.</a:t>
            </a:r>
            <a:endParaRPr lang="en-IN"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905952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Calibri" panose="020F0502020204030204" pitchFamily="34" charset="0"/>
                <a:cs typeface="Calibri" panose="020F0502020204030204" pitchFamily="34" charset="0"/>
              </a:rPr>
              <a:t>Strategy Design Pattern</a:t>
            </a:r>
            <a:endParaRPr lang="en-IN" sz="40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p:txBody>
          <a:bodyPr>
            <a:noAutofit/>
          </a:bodyPr>
          <a:lstStyle/>
          <a:p>
            <a:r>
              <a:rPr lang="en-US" sz="2000" dirty="0">
                <a:latin typeface="Calibri" panose="020F0502020204030204" pitchFamily="34" charset="0"/>
                <a:cs typeface="Calibri" panose="020F0502020204030204" pitchFamily="34" charset="0"/>
              </a:rPr>
              <a:t>The </a:t>
            </a:r>
            <a:r>
              <a:rPr lang="en-US" sz="2000" b="1" dirty="0">
                <a:latin typeface="Calibri" panose="020F0502020204030204" pitchFamily="34" charset="0"/>
                <a:cs typeface="Calibri" panose="020F0502020204030204" pitchFamily="34" charset="0"/>
              </a:rPr>
              <a:t>Strategy Design Pattern</a:t>
            </a:r>
            <a:r>
              <a:rPr lang="en-US" sz="2000" dirty="0">
                <a:latin typeface="Calibri" panose="020F0502020204030204" pitchFamily="34" charset="0"/>
                <a:cs typeface="Calibri" panose="020F0502020204030204" pitchFamily="34" charset="0"/>
              </a:rPr>
              <a:t> is a </a:t>
            </a:r>
            <a:r>
              <a:rPr lang="en-US" sz="2000" b="1" dirty="0">
                <a:latin typeface="Calibri" panose="020F0502020204030204" pitchFamily="34" charset="0"/>
                <a:cs typeface="Calibri" panose="020F0502020204030204" pitchFamily="34" charset="0"/>
              </a:rPr>
              <a:t>behavioral pattern</a:t>
            </a:r>
            <a:r>
              <a:rPr lang="en-US" sz="2000" dirty="0">
                <a:latin typeface="Calibri" panose="020F0502020204030204" pitchFamily="34" charset="0"/>
                <a:cs typeface="Calibri" panose="020F0502020204030204" pitchFamily="34" charset="0"/>
              </a:rPr>
              <a:t> that defines a family of algorithms, encapsulates each one, and makes them interchangeable. It allows the client (or </a:t>
            </a:r>
            <a:r>
              <a:rPr lang="en-US" sz="2000" i="1" dirty="0">
                <a:latin typeface="Calibri" panose="020F0502020204030204" pitchFamily="34" charset="0"/>
                <a:cs typeface="Calibri" panose="020F0502020204030204" pitchFamily="34" charset="0"/>
              </a:rPr>
              <a:t>Context</a:t>
            </a:r>
            <a:r>
              <a:rPr lang="en-US" sz="2000" dirty="0">
                <a:latin typeface="Calibri" panose="020F0502020204030204" pitchFamily="34" charset="0"/>
                <a:cs typeface="Calibri" panose="020F0502020204030204" pitchFamily="34" charset="0"/>
              </a:rPr>
              <a:t>) to choose the appropriate algorithm (</a:t>
            </a:r>
            <a:r>
              <a:rPr lang="en-US" sz="2000" i="1" dirty="0">
                <a:latin typeface="Calibri" panose="020F0502020204030204" pitchFamily="34" charset="0"/>
                <a:cs typeface="Calibri" panose="020F0502020204030204" pitchFamily="34" charset="0"/>
              </a:rPr>
              <a:t>Strategy</a:t>
            </a:r>
            <a:r>
              <a:rPr lang="en-US" sz="2000" dirty="0">
                <a:latin typeface="Calibri" panose="020F0502020204030204" pitchFamily="34" charset="0"/>
                <a:cs typeface="Calibri" panose="020F0502020204030204" pitchFamily="34" charset="0"/>
              </a:rPr>
              <a:t>) at runtime without altering the client's code.</a:t>
            </a:r>
          </a:p>
          <a:p>
            <a:r>
              <a:rPr lang="en-US" sz="2000" dirty="0">
                <a:latin typeface="Calibri" panose="020F0502020204030204" pitchFamily="34" charset="0"/>
                <a:cs typeface="Calibri" panose="020F0502020204030204" pitchFamily="34" charset="0"/>
              </a:rPr>
              <a:t>In Node.js (and JavaScript), this pattern is often implemented using classes or plain objects/functions, as JavaScript lacks a native interface concept.</a:t>
            </a:r>
          </a:p>
        </p:txBody>
      </p:sp>
    </p:spTree>
    <p:extLst>
      <p:ext uri="{BB962C8B-B14F-4D97-AF65-F5344CB8AC3E}">
        <p14:creationId xmlns:p14="http://schemas.microsoft.com/office/powerpoint/2010/main" val="2361802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a:t>Chain of Responsibility Pattern</a:t>
            </a:r>
            <a:endParaRPr lang="en-IN" sz="40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p:txBody>
          <a:bodyPr>
            <a:noAutofit/>
          </a:bodyPr>
          <a:lstStyle/>
          <a:p>
            <a:r>
              <a:rPr lang="en-US" sz="2000" dirty="0">
                <a:latin typeface="Calibri" panose="020F0502020204030204" pitchFamily="34" charset="0"/>
                <a:cs typeface="Calibri" panose="020F0502020204030204" pitchFamily="34" charset="0"/>
              </a:rPr>
              <a:t>The </a:t>
            </a:r>
            <a:r>
              <a:rPr lang="en-US" sz="2000" b="1" dirty="0">
                <a:latin typeface="Calibri" panose="020F0502020204030204" pitchFamily="34" charset="0"/>
                <a:cs typeface="Calibri" panose="020F0502020204030204" pitchFamily="34" charset="0"/>
              </a:rPr>
              <a:t>Chain of Responsibility</a:t>
            </a:r>
            <a:r>
              <a:rPr lang="en-US" sz="2000" dirty="0">
                <a:latin typeface="Calibri" panose="020F0502020204030204" pitchFamily="34" charset="0"/>
                <a:cs typeface="Calibri" panose="020F0502020204030204" pitchFamily="34" charset="0"/>
              </a:rPr>
              <a:t> is a </a:t>
            </a:r>
            <a:r>
              <a:rPr lang="en-US" sz="2000" b="1" dirty="0">
                <a:latin typeface="Calibri" panose="020F0502020204030204" pitchFamily="34" charset="0"/>
                <a:cs typeface="Calibri" panose="020F0502020204030204" pitchFamily="34" charset="0"/>
              </a:rPr>
              <a:t>behavioral design pattern</a:t>
            </a:r>
            <a:r>
              <a:rPr lang="en-US" sz="2000" dirty="0">
                <a:latin typeface="Calibri" panose="020F0502020204030204" pitchFamily="34" charset="0"/>
                <a:cs typeface="Calibri" panose="020F0502020204030204" pitchFamily="34" charset="0"/>
              </a:rPr>
              <a:t> that is often implemented in Node.js, particularly within middleware systems like Express, but it can also be built using pure JavaScript classes for more abstract request handling.</a:t>
            </a:r>
          </a:p>
          <a:p>
            <a:r>
              <a:rPr lang="en-US" sz="2000" dirty="0">
                <a:latin typeface="Calibri" panose="020F0502020204030204" pitchFamily="34" charset="0"/>
                <a:cs typeface="Calibri" panose="020F0502020204030204" pitchFamily="34" charset="0"/>
              </a:rPr>
              <a:t>Here is a detailed breakdown of the pattern and how to implement it in Node.js using classes.</a:t>
            </a:r>
          </a:p>
        </p:txBody>
      </p:sp>
    </p:spTree>
    <p:extLst>
      <p:ext uri="{BB962C8B-B14F-4D97-AF65-F5344CB8AC3E}">
        <p14:creationId xmlns:p14="http://schemas.microsoft.com/office/powerpoint/2010/main" val="342553189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smtClean="0"/>
              <a:t>Observer Design Pattern</a:t>
            </a:r>
            <a:endParaRPr lang="en-IN" sz="40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p:txBody>
          <a:bodyPr>
            <a:noAutofit/>
          </a:bodyPr>
          <a:lstStyle/>
          <a:p>
            <a:pPr marL="0" indent="0">
              <a:buNone/>
            </a:pPr>
            <a:r>
              <a:rPr lang="en-US" sz="2000" dirty="0">
                <a:latin typeface="Calibri" panose="020F0502020204030204" pitchFamily="34" charset="0"/>
                <a:cs typeface="Calibri" panose="020F0502020204030204" pitchFamily="34" charset="0"/>
              </a:rPr>
              <a:t>The Observer design pattern is a behavioral pattern where an object, called the Subject (or Observable), maintains a list of its dependents, called Observers. When the Subject's state changes, it automatically notifies all its Observers, usually by calling one of their methods</a:t>
            </a:r>
            <a:r>
              <a:rPr lang="en-US" sz="2000" dirty="0" smtClean="0">
                <a:latin typeface="Calibri" panose="020F0502020204030204" pitchFamily="34" charset="0"/>
                <a:cs typeface="Calibri" panose="020F0502020204030204" pitchFamily="34" charset="0"/>
              </a:rPr>
              <a:t>.</a:t>
            </a:r>
            <a:endParaRPr lang="en-US" sz="2000" dirty="0">
              <a:latin typeface="Calibri" panose="020F0502020204030204" pitchFamily="34" charset="0"/>
              <a:cs typeface="Calibri" panose="020F0502020204030204" pitchFamily="34" charset="0"/>
            </a:endParaRPr>
          </a:p>
          <a:p>
            <a:pPr marL="0" indent="0">
              <a:buNone/>
            </a:pPr>
            <a:r>
              <a:rPr lang="en-US" sz="2000" dirty="0">
                <a:latin typeface="Calibri" panose="020F0502020204030204" pitchFamily="34" charset="0"/>
                <a:cs typeface="Calibri" panose="020F0502020204030204" pitchFamily="34" charset="0"/>
              </a:rPr>
              <a:t>In Node.js, the Observer pattern is fundamentally implemented using the built-in </a:t>
            </a:r>
            <a:r>
              <a:rPr lang="en-US" sz="2000" dirty="0" err="1">
                <a:latin typeface="Calibri" panose="020F0502020204030204" pitchFamily="34" charset="0"/>
                <a:cs typeface="Calibri" panose="020F0502020204030204" pitchFamily="34" charset="0"/>
              </a:rPr>
              <a:t>EventEmitter</a:t>
            </a:r>
            <a:r>
              <a:rPr lang="en-US" sz="2000" dirty="0">
                <a:latin typeface="Calibri" panose="020F0502020204030204" pitchFamily="34" charset="0"/>
                <a:cs typeface="Calibri" panose="020F0502020204030204" pitchFamily="34" charset="0"/>
              </a:rPr>
              <a:t> module.</a:t>
            </a:r>
          </a:p>
        </p:txBody>
      </p:sp>
    </p:spTree>
    <p:extLst>
      <p:ext uri="{BB962C8B-B14F-4D97-AF65-F5344CB8AC3E}">
        <p14:creationId xmlns:p14="http://schemas.microsoft.com/office/powerpoint/2010/main" val="5271764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smtClean="0"/>
              <a:t>Command Design Pattern</a:t>
            </a:r>
            <a:endParaRPr lang="en-IN" sz="40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p:txBody>
          <a:bodyPr>
            <a:noAutofit/>
          </a:bodyPr>
          <a:lstStyle/>
          <a:p>
            <a:pPr marL="0" indent="0">
              <a:buNone/>
            </a:pPr>
            <a:r>
              <a:rPr lang="en-US" sz="2000" dirty="0">
                <a:latin typeface="Calibri" panose="020F0502020204030204" pitchFamily="34" charset="0"/>
                <a:cs typeface="Calibri" panose="020F0502020204030204" pitchFamily="34" charset="0"/>
              </a:rPr>
              <a:t>The </a:t>
            </a:r>
            <a:r>
              <a:rPr lang="en-US" sz="2000" b="1" dirty="0">
                <a:latin typeface="Calibri" panose="020F0502020204030204" pitchFamily="34" charset="0"/>
                <a:cs typeface="Calibri" panose="020F0502020204030204" pitchFamily="34" charset="0"/>
              </a:rPr>
              <a:t>Command Design Pattern</a:t>
            </a:r>
            <a:r>
              <a:rPr lang="en-US" sz="2000" dirty="0">
                <a:latin typeface="Calibri" panose="020F0502020204030204" pitchFamily="34" charset="0"/>
                <a:cs typeface="Calibri" panose="020F0502020204030204" pitchFamily="34" charset="0"/>
              </a:rPr>
              <a:t> is a behavioral pattern that turns a request (an action) into a stand-alone object. This decouples the object that </a:t>
            </a:r>
            <a:r>
              <a:rPr lang="en-US" sz="2000" i="1" dirty="0">
                <a:latin typeface="Calibri" panose="020F0502020204030204" pitchFamily="34" charset="0"/>
                <a:cs typeface="Calibri" panose="020F0502020204030204" pitchFamily="34" charset="0"/>
              </a:rPr>
              <a:t>invokes</a:t>
            </a:r>
            <a:r>
              <a:rPr lang="en-US" sz="2000" dirty="0">
                <a:latin typeface="Calibri" panose="020F0502020204030204" pitchFamily="34" charset="0"/>
                <a:cs typeface="Calibri" panose="020F0502020204030204" pitchFamily="34" charset="0"/>
              </a:rPr>
              <a:t> the operation (the "sender") from the one that </a:t>
            </a:r>
            <a:r>
              <a:rPr lang="en-US" sz="2000" i="1" dirty="0">
                <a:latin typeface="Calibri" panose="020F0502020204030204" pitchFamily="34" charset="0"/>
                <a:cs typeface="Calibri" panose="020F0502020204030204" pitchFamily="34" charset="0"/>
              </a:rPr>
              <a:t>knows how to perform it</a:t>
            </a:r>
            <a:r>
              <a:rPr lang="en-US" sz="2000" dirty="0">
                <a:latin typeface="Calibri" panose="020F0502020204030204" pitchFamily="34" charset="0"/>
                <a:cs typeface="Calibri" panose="020F0502020204030204" pitchFamily="34" charset="0"/>
              </a:rPr>
              <a:t> (the "receiver").</a:t>
            </a:r>
          </a:p>
          <a:p>
            <a:pPr marL="0" indent="0">
              <a:buNone/>
            </a:pPr>
            <a:r>
              <a:rPr lang="en-US" sz="2000" dirty="0">
                <a:latin typeface="Calibri" panose="020F0502020204030204" pitchFamily="34" charset="0"/>
                <a:cs typeface="Calibri" panose="020F0502020204030204" pitchFamily="34" charset="0"/>
              </a:rPr>
              <a:t>In Node.js backend development, this is particularly powerful for creating </a:t>
            </a:r>
            <a:r>
              <a:rPr lang="en-US" sz="2000" b="1" dirty="0">
                <a:latin typeface="Calibri" panose="020F0502020204030204" pitchFamily="34" charset="0"/>
                <a:cs typeface="Calibri" panose="020F0502020204030204" pitchFamily="34" charset="0"/>
              </a:rPr>
              <a:t>task queues</a:t>
            </a:r>
            <a:r>
              <a:rPr lang="en-US" sz="2000" dirty="0">
                <a:latin typeface="Calibri" panose="020F0502020204030204" pitchFamily="34" charset="0"/>
                <a:cs typeface="Calibri" panose="020F0502020204030204" pitchFamily="34" charset="0"/>
              </a:rPr>
              <a:t>, implementing </a:t>
            </a:r>
            <a:r>
              <a:rPr lang="en-US" sz="2000" b="1" dirty="0">
                <a:latin typeface="Calibri" panose="020F0502020204030204" pitchFamily="34" charset="0"/>
                <a:cs typeface="Calibri" panose="020F0502020204030204" pitchFamily="34" charset="0"/>
              </a:rPr>
              <a:t>undo/redo</a:t>
            </a:r>
            <a:r>
              <a:rPr lang="en-US" sz="2000" dirty="0">
                <a:latin typeface="Calibri" panose="020F0502020204030204" pitchFamily="34" charset="0"/>
                <a:cs typeface="Calibri" panose="020F0502020204030204" pitchFamily="34" charset="0"/>
              </a:rPr>
              <a:t> functionality (like in text editors or transactional systems), and building extensible </a:t>
            </a:r>
            <a:r>
              <a:rPr lang="en-US" sz="2000" b="1" dirty="0">
                <a:latin typeface="Calibri" panose="020F0502020204030204" pitchFamily="34" charset="0"/>
                <a:cs typeface="Calibri" panose="020F0502020204030204" pitchFamily="34" charset="0"/>
              </a:rPr>
              <a:t>CLI tools</a:t>
            </a:r>
            <a:r>
              <a:rPr lang="en-US" sz="200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9698381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smtClean="0"/>
              <a:t>Interpreter Design Pattern</a:t>
            </a:r>
            <a:endParaRPr lang="en-IN" sz="40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p:txBody>
          <a:bodyPr>
            <a:noAutofit/>
          </a:bodyPr>
          <a:lstStyle/>
          <a:p>
            <a:pPr marL="0" indent="0">
              <a:buNone/>
            </a:pPr>
            <a:r>
              <a:rPr lang="en-US" sz="2000" dirty="0">
                <a:latin typeface="Calibri" panose="020F0502020204030204" pitchFamily="34" charset="0"/>
                <a:cs typeface="Calibri" panose="020F0502020204030204" pitchFamily="34" charset="0"/>
              </a:rPr>
              <a:t>The </a:t>
            </a:r>
            <a:r>
              <a:rPr lang="en-US" sz="2000" b="1" dirty="0">
                <a:latin typeface="Calibri" panose="020F0502020204030204" pitchFamily="34" charset="0"/>
                <a:cs typeface="Calibri" panose="020F0502020204030204" pitchFamily="34" charset="0"/>
              </a:rPr>
              <a:t>Interpreter Design Pattern</a:t>
            </a:r>
            <a:r>
              <a:rPr lang="en-US" sz="2000" dirty="0">
                <a:latin typeface="Calibri" panose="020F0502020204030204" pitchFamily="34" charset="0"/>
                <a:cs typeface="Calibri" panose="020F0502020204030204" pitchFamily="34" charset="0"/>
              </a:rPr>
              <a:t> is a behavioral pattern used to define a grammar for a language and an interpreter to interpret sentences in that language. In simpler terms, it turns a specific syntax (like a math equation or a search query) into an object-oriented structure that can be evaluated.</a:t>
            </a:r>
          </a:p>
          <a:p>
            <a:pPr marL="0" indent="0">
              <a:buNone/>
            </a:pPr>
            <a:r>
              <a:rPr lang="en-US" sz="2000" dirty="0">
                <a:latin typeface="Calibri" panose="020F0502020204030204" pitchFamily="34" charset="0"/>
                <a:cs typeface="Calibri" panose="020F0502020204030204" pitchFamily="34" charset="0"/>
              </a:rPr>
              <a:t>In Node.js, this pattern is particularly useful when you need to parse custom logic, configuration languages, or mathematical expressions without writing a full-blown compiler.</a:t>
            </a:r>
          </a:p>
          <a:p>
            <a:pPr marL="0" indent="0">
              <a:buNone/>
            </a:pP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890957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smtClean="0"/>
              <a:t>Iterator Design Pattern</a:t>
            </a:r>
            <a:endParaRPr lang="en-IN" sz="40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p:txBody>
          <a:bodyPr>
            <a:noAutofit/>
          </a:bodyPr>
          <a:lstStyle/>
          <a:p>
            <a:pPr marL="0" indent="0">
              <a:buNone/>
            </a:pPr>
            <a:r>
              <a:rPr lang="en-US" sz="2000" dirty="0">
                <a:latin typeface="Calibri" panose="020F0502020204030204" pitchFamily="34" charset="0"/>
                <a:cs typeface="Calibri" panose="020F0502020204030204" pitchFamily="34" charset="0"/>
              </a:rPr>
              <a:t>The Iterator Design Pattern is a behavioral pattern that allows you to traverse elements of a collection (like a list, tree, or custom object) without exposing its underlying representation (array, linked list, hash map, etc.).</a:t>
            </a:r>
          </a:p>
          <a:p>
            <a:pPr marL="0" indent="0">
              <a:buNone/>
            </a:pPr>
            <a:r>
              <a:rPr lang="en-US" sz="2000" dirty="0">
                <a:latin typeface="Calibri" panose="020F0502020204030204" pitchFamily="34" charset="0"/>
                <a:cs typeface="Calibri" panose="020F0502020204030204" pitchFamily="34" charset="0"/>
              </a:rPr>
              <a:t>In Node.js (and modern JavaScript), this pattern is </a:t>
            </a:r>
            <a:r>
              <a:rPr lang="en-US" sz="2000" b="1" dirty="0">
                <a:latin typeface="Calibri" panose="020F0502020204030204" pitchFamily="34" charset="0"/>
                <a:cs typeface="Calibri" panose="020F0502020204030204" pitchFamily="34" charset="0"/>
              </a:rPr>
              <a:t>baked directly into the language</a:t>
            </a:r>
            <a:r>
              <a:rPr lang="en-US" sz="2000" dirty="0">
                <a:latin typeface="Calibri" panose="020F0502020204030204" pitchFamily="34" charset="0"/>
                <a:cs typeface="Calibri" panose="020F0502020204030204" pitchFamily="34" charset="0"/>
              </a:rPr>
              <a:t> via the </a:t>
            </a:r>
            <a:r>
              <a:rPr lang="en-US" sz="2000" b="1" dirty="0">
                <a:latin typeface="Calibri" panose="020F0502020204030204" pitchFamily="34" charset="0"/>
                <a:cs typeface="Calibri" panose="020F0502020204030204" pitchFamily="34" charset="0"/>
              </a:rPr>
              <a:t>Iteration Protocols</a:t>
            </a:r>
            <a:r>
              <a:rPr lang="en-US" sz="2000" dirty="0">
                <a:latin typeface="Calibri" panose="020F0502020204030204" pitchFamily="34" charset="0"/>
                <a:cs typeface="Calibri" panose="020F0502020204030204" pitchFamily="34" charset="0"/>
              </a:rPr>
              <a:t> and </a:t>
            </a:r>
            <a:r>
              <a:rPr lang="en-US" sz="2000" b="1" dirty="0">
                <a:latin typeface="Calibri" panose="020F0502020204030204" pitchFamily="34" charset="0"/>
                <a:cs typeface="Calibri" panose="020F0502020204030204" pitchFamily="34" charset="0"/>
              </a:rPr>
              <a:t>Generators</a:t>
            </a:r>
            <a:r>
              <a:rPr lang="en-US" sz="2000" dirty="0">
                <a:latin typeface="Calibri" panose="020F0502020204030204" pitchFamily="34" charset="0"/>
                <a:cs typeface="Calibri" panose="020F0502020204030204" pitchFamily="34" charset="0"/>
              </a:rPr>
              <a:t>. This makes implementing it much easier and more idiomatic than in classical object-oriented languages like Java or C++.</a:t>
            </a:r>
          </a:p>
        </p:txBody>
      </p:sp>
    </p:spTree>
    <p:extLst>
      <p:ext uri="{BB962C8B-B14F-4D97-AF65-F5344CB8AC3E}">
        <p14:creationId xmlns:p14="http://schemas.microsoft.com/office/powerpoint/2010/main" val="331220384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smtClean="0"/>
              <a:t>Mediator</a:t>
            </a:r>
            <a:r>
              <a:rPr lang="en-IN" sz="4000" smtClean="0"/>
              <a:t> </a:t>
            </a:r>
            <a:r>
              <a:rPr lang="en-IN" sz="4000" dirty="0" smtClean="0"/>
              <a:t>Design Pattern</a:t>
            </a:r>
            <a:endParaRPr lang="en-IN" sz="40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p:txBody>
          <a:bodyPr>
            <a:noAutofit/>
          </a:bodyPr>
          <a:lstStyle/>
          <a:p>
            <a:pPr marL="0" indent="0">
              <a:buNone/>
            </a:pPr>
            <a:r>
              <a:rPr lang="en-US" sz="2000" dirty="0">
                <a:latin typeface="Calibri" panose="020F0502020204030204" pitchFamily="34" charset="0"/>
                <a:cs typeface="Calibri" panose="020F0502020204030204" pitchFamily="34" charset="0"/>
              </a:rPr>
              <a:t>The Mediator design pattern is a behavioral pattern that acts as a central hub for communication between different objects (components). Instead of objects referring to and calling each other directly (creating a chaotic web of dependencies), they send messages to the Mediator, which then routes those messages to the appropriate recipients.</a:t>
            </a:r>
          </a:p>
          <a:p>
            <a:pPr marL="0" indent="0">
              <a:buNone/>
            </a:pPr>
            <a:endParaRPr lang="en-US" sz="2000" dirty="0">
              <a:latin typeface="Calibri" panose="020F0502020204030204" pitchFamily="34" charset="0"/>
              <a:cs typeface="Calibri" panose="020F0502020204030204" pitchFamily="34" charset="0"/>
            </a:endParaRPr>
          </a:p>
          <a:p>
            <a:pPr marL="0" indent="0">
              <a:buNone/>
            </a:pPr>
            <a:r>
              <a:rPr lang="en-US" sz="2000" dirty="0">
                <a:latin typeface="Calibri" panose="020F0502020204030204" pitchFamily="34" charset="0"/>
                <a:cs typeface="Calibri" panose="020F0502020204030204" pitchFamily="34" charset="0"/>
              </a:rPr>
              <a:t>In Node.js, this is particularly powerful because the ecosystem is heavily based on events. The native </a:t>
            </a:r>
            <a:r>
              <a:rPr lang="en-US" sz="2000" dirty="0" err="1">
                <a:latin typeface="Calibri" panose="020F0502020204030204" pitchFamily="34" charset="0"/>
                <a:cs typeface="Calibri" panose="020F0502020204030204" pitchFamily="34" charset="0"/>
              </a:rPr>
              <a:t>EventEmitter</a:t>
            </a:r>
            <a:r>
              <a:rPr lang="en-US" sz="2000" dirty="0">
                <a:latin typeface="Calibri" panose="020F0502020204030204" pitchFamily="34" charset="0"/>
                <a:cs typeface="Calibri" panose="020F0502020204030204" pitchFamily="34" charset="0"/>
              </a:rPr>
              <a:t> class is essentially a built-in implementation of the Mediator pattern.</a:t>
            </a: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79570771"/>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1319</TotalTime>
  <Words>1044</Words>
  <Application>Microsoft Office PowerPoint</Application>
  <PresentationFormat>Widescreen</PresentationFormat>
  <Paragraphs>42</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Trebuchet MS</vt:lpstr>
      <vt:lpstr>Wingdings 3</vt:lpstr>
      <vt:lpstr>Facet</vt:lpstr>
      <vt:lpstr>Design Patterns</vt:lpstr>
      <vt:lpstr>PowerPoint Presentation</vt:lpstr>
      <vt:lpstr>Singleton Design Pattern</vt:lpstr>
      <vt:lpstr>Factory Design Pattern</vt:lpstr>
      <vt:lpstr>Abstract Factory Design Pattern</vt:lpstr>
      <vt:lpstr>Builder Design Pattern</vt:lpstr>
      <vt:lpstr>Prototype Design Pattern</vt:lpstr>
      <vt:lpstr>Strategy Design Pattern</vt:lpstr>
      <vt:lpstr>Chain of Responsibility Pattern</vt:lpstr>
      <vt:lpstr>Observer Design Pattern</vt:lpstr>
      <vt:lpstr>Command Design Pattern</vt:lpstr>
      <vt:lpstr>Interpreter Design Pattern</vt:lpstr>
      <vt:lpstr>Iterator Design Pattern</vt:lpstr>
      <vt:lpstr>Mediator Design Pattern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Node JS </dc:title>
  <dc:creator>Vimal</dc:creator>
  <cp:lastModifiedBy>Vimal Patel</cp:lastModifiedBy>
  <cp:revision>209</cp:revision>
  <dcterms:created xsi:type="dcterms:W3CDTF">2025-09-12T15:33:43Z</dcterms:created>
  <dcterms:modified xsi:type="dcterms:W3CDTF">2025-12-28T17:06:13Z</dcterms:modified>
</cp:coreProperties>
</file>